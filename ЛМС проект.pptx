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5"/>
  </p:notesMasterIdLst>
  <p:sldIdLst>
    <p:sldId id="256" r:id="rId2"/>
    <p:sldId id="257" r:id="rId3"/>
    <p:sldId id="258" r:id="rId4"/>
  </p:sldIdLst>
  <p:sldSz cx="18288000" cy="10287000"/>
  <p:notesSz cx="6858000" cy="9144000"/>
  <p:embeddedFontLst>
    <p:embeddedFont>
      <p:font typeface="Solway" panose="020B0604020202020204" charset="0"/>
      <p:bold r:id="rId6"/>
    </p:embeddedFon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Bitter" panose="020B0604020202020204" charset="-52"/>
      <p:regular r:id="rId11"/>
      <p:bold r:id="rId12"/>
      <p:italic r:id="rId13"/>
      <p:boldItalic r:id="rId14"/>
    </p:embeddedFont>
    <p:embeddedFont>
      <p:font typeface="Comic Sans MS" panose="030F0702030302020204" pitchFamily="66" charset="0"/>
      <p:regular r:id="rId15"/>
      <p:bold r:id="rId16"/>
      <p:italic r:id="rId17"/>
      <p:boldItalic r:id="rId18"/>
    </p:embeddedFont>
    <p:embeddedFont>
      <p:font typeface="Arvo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E9E4"/>
    <a:srgbClr val="5D49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90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font" Target="fonts/font1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6.fntdata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20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24" Type="http://schemas.openxmlformats.org/officeDocument/2006/relationships/viewProps" Target="viewProps.xml"/><Relationship Id="rId5" Type="http://schemas.openxmlformats.org/officeDocument/2006/relationships/notesMaster" Target="notesMasters/notesMaster1.xml"/><Relationship Id="rId15" Type="http://schemas.openxmlformats.org/officeDocument/2006/relationships/font" Target="fonts/font10.fntdata"/><Relationship Id="rId23" Type="http://schemas.openxmlformats.org/officeDocument/2006/relationships/presProps" Target="presProps.xml"/><Relationship Id="rId10" Type="http://schemas.openxmlformats.org/officeDocument/2006/relationships/font" Target="fonts/font5.fntdata"/><Relationship Id="rId19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font" Target="fonts/font9.fntdata"/><Relationship Id="rId22" Type="http://schemas.openxmlformats.org/officeDocument/2006/relationships/font" Target="fonts/font1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>
            <a:spLocks noGrp="1"/>
          </p:cNvSpPr>
          <p:nvPr>
            <p:ph type="title"/>
          </p:nvPr>
        </p:nvSpPr>
        <p:spPr>
          <a:xfrm>
            <a:off x="2105099" y="526175"/>
            <a:ext cx="140778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Calibri"/>
              <a:buNone/>
              <a:defRPr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"/>
          <p:cNvSpPr txBox="1">
            <a:spLocks noGrp="1"/>
          </p:cNvSpPr>
          <p:nvPr>
            <p:ph type="body" idx="1"/>
          </p:nvPr>
        </p:nvSpPr>
        <p:spPr>
          <a:xfrm>
            <a:off x="5257788" y="659596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24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2400"/>
              <a:buNone/>
              <a:defRPr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"/>
          <p:cNvSpPr txBox="1">
            <a:spLocks noGrp="1"/>
          </p:cNvSpPr>
          <p:nvPr>
            <p:ph type="title"/>
          </p:nvPr>
        </p:nvSpPr>
        <p:spPr>
          <a:xfrm>
            <a:off x="1296575" y="1328725"/>
            <a:ext cx="1541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body" idx="1"/>
          </p:nvPr>
        </p:nvSpPr>
        <p:spPr>
          <a:xfrm>
            <a:off x="2750875" y="4333000"/>
            <a:ext cx="61380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body" idx="2"/>
          </p:nvPr>
        </p:nvSpPr>
        <p:spPr>
          <a:xfrm>
            <a:off x="9120652" y="4333000"/>
            <a:ext cx="61380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title"/>
          </p:nvPr>
        </p:nvSpPr>
        <p:spPr>
          <a:xfrm>
            <a:off x="1296575" y="1328725"/>
            <a:ext cx="1541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body" idx="1"/>
          </p:nvPr>
        </p:nvSpPr>
        <p:spPr>
          <a:xfrm>
            <a:off x="3556525" y="4048775"/>
            <a:ext cx="5097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2"/>
          </p:nvPr>
        </p:nvSpPr>
        <p:spPr>
          <a:xfrm>
            <a:off x="8840897" y="4048775"/>
            <a:ext cx="51003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>
            <a:spLocks noGrp="1"/>
          </p:cNvSpPr>
          <p:nvPr>
            <p:ph type="title"/>
          </p:nvPr>
        </p:nvSpPr>
        <p:spPr>
          <a:xfrm>
            <a:off x="1296575" y="1328725"/>
            <a:ext cx="1541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title"/>
          </p:nvPr>
        </p:nvSpPr>
        <p:spPr>
          <a:xfrm>
            <a:off x="2538750" y="1985150"/>
            <a:ext cx="13210500" cy="11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Calibri"/>
              <a:buNone/>
              <a:defRPr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body" idx="1"/>
          </p:nvPr>
        </p:nvSpPr>
        <p:spPr>
          <a:xfrm>
            <a:off x="9034112" y="3741850"/>
            <a:ext cx="7210200" cy="44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body" idx="2"/>
          </p:nvPr>
        </p:nvSpPr>
        <p:spPr>
          <a:xfrm>
            <a:off x="2443900" y="3617800"/>
            <a:ext cx="57597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title"/>
          </p:nvPr>
        </p:nvSpPr>
        <p:spPr>
          <a:xfrm>
            <a:off x="1831375" y="2477750"/>
            <a:ext cx="153501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Calibri"/>
              <a:buNone/>
              <a:defRPr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"/>
          <p:cNvSpPr>
            <a:spLocks noGrp="1"/>
          </p:cNvSpPr>
          <p:nvPr>
            <p:ph type="pic" idx="2"/>
          </p:nvPr>
        </p:nvSpPr>
        <p:spPr>
          <a:xfrm>
            <a:off x="10146813" y="4996450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1694663" y="49964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296575" y="1328725"/>
            <a:ext cx="15416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0"/>
              <a:buFont typeface="Arvo"/>
              <a:buNone/>
              <a:defRPr sz="9000" b="1" i="0" u="none" strike="noStrike" cap="none">
                <a:solidFill>
                  <a:schemeClr val="dk2"/>
                </a:solidFill>
                <a:latin typeface="Arvo"/>
                <a:ea typeface="Arvo"/>
                <a:cs typeface="Arvo"/>
                <a:sym typeface="Arv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90625" y="44501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vo"/>
              <a:buChar char="•"/>
              <a:defRPr sz="2400" i="0" u="none" strike="noStrike" cap="none">
                <a:solidFill>
                  <a:schemeClr val="lt1"/>
                </a:solidFill>
                <a:latin typeface="Arvo"/>
                <a:ea typeface="Arvo"/>
                <a:cs typeface="Arvo"/>
                <a:sym typeface="Arvo"/>
              </a:defRPr>
            </a:lvl1pPr>
            <a:lvl2pPr marL="914400" marR="0" lvl="1" indent="-381000" algn="l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vo"/>
              <a:buChar char="–"/>
              <a:defRPr sz="2400" i="0" u="none" strike="noStrike" cap="none">
                <a:solidFill>
                  <a:schemeClr val="lt1"/>
                </a:solidFill>
                <a:latin typeface="Arvo"/>
                <a:ea typeface="Arvo"/>
                <a:cs typeface="Arvo"/>
                <a:sym typeface="Arvo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vo"/>
              <a:buChar char="•"/>
              <a:defRPr sz="2400" i="0" u="none" strike="noStrike" cap="none">
                <a:solidFill>
                  <a:schemeClr val="lt1"/>
                </a:solidFill>
                <a:latin typeface="Arvo"/>
                <a:ea typeface="Arvo"/>
                <a:cs typeface="Arvo"/>
                <a:sym typeface="Arvo"/>
              </a:defRPr>
            </a:lvl3pPr>
            <a:lvl4pPr marL="1828800" marR="0" lvl="3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vo"/>
              <a:buChar char="–"/>
              <a:defRPr sz="2400" i="0" u="none" strike="noStrike" cap="none">
                <a:solidFill>
                  <a:schemeClr val="lt1"/>
                </a:solidFill>
                <a:latin typeface="Arvo"/>
                <a:ea typeface="Arvo"/>
                <a:cs typeface="Arvo"/>
                <a:sym typeface="Arvo"/>
              </a:defRPr>
            </a:lvl4pPr>
            <a:lvl5pPr marL="2286000" marR="0" lvl="4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vo"/>
              <a:buChar char="»"/>
              <a:defRPr sz="2400" i="0" u="none" strike="noStrike" cap="none">
                <a:solidFill>
                  <a:schemeClr val="lt1"/>
                </a:solidFill>
                <a:latin typeface="Arvo"/>
                <a:ea typeface="Arvo"/>
                <a:cs typeface="Arvo"/>
                <a:sym typeface="Arvo"/>
              </a:defRPr>
            </a:lvl5pPr>
            <a:lvl6pPr marL="2743200" marR="0" lvl="5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vo"/>
              <a:buChar char="•"/>
              <a:defRPr sz="2400" i="0" u="none" strike="noStrike" cap="none">
                <a:solidFill>
                  <a:schemeClr val="lt1"/>
                </a:solidFill>
                <a:latin typeface="Arvo"/>
                <a:ea typeface="Arvo"/>
                <a:cs typeface="Arvo"/>
                <a:sym typeface="Arvo"/>
              </a:defRPr>
            </a:lvl6pPr>
            <a:lvl7pPr marL="3200400" marR="0" lvl="6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vo"/>
              <a:buChar char="•"/>
              <a:defRPr sz="2400" i="0" u="none" strike="noStrike" cap="none">
                <a:solidFill>
                  <a:schemeClr val="lt1"/>
                </a:solidFill>
                <a:latin typeface="Arvo"/>
                <a:ea typeface="Arvo"/>
                <a:cs typeface="Arvo"/>
                <a:sym typeface="Arvo"/>
              </a:defRPr>
            </a:lvl7pPr>
            <a:lvl8pPr marL="3657600" marR="0" lvl="7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vo"/>
              <a:buChar char="•"/>
              <a:defRPr sz="2400" i="0" u="none" strike="noStrike" cap="none">
                <a:solidFill>
                  <a:schemeClr val="lt1"/>
                </a:solidFill>
                <a:latin typeface="Arvo"/>
                <a:ea typeface="Arvo"/>
                <a:cs typeface="Arvo"/>
                <a:sym typeface="Arvo"/>
              </a:defRPr>
            </a:lvl8pPr>
            <a:lvl9pPr marL="4114800" marR="0" lvl="8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vo"/>
              <a:buChar char="•"/>
              <a:defRPr sz="2400" i="0" u="none" strike="noStrike" cap="none">
                <a:solidFill>
                  <a:schemeClr val="lt1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8B7A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oogle Shape;40;p11"/>
          <p:cNvGrpSpPr/>
          <p:nvPr/>
        </p:nvGrpSpPr>
        <p:grpSpPr>
          <a:xfrm>
            <a:off x="266208" y="176571"/>
            <a:ext cx="17755583" cy="9789198"/>
            <a:chOff x="0" y="-38100"/>
            <a:chExt cx="4676368" cy="2578225"/>
          </a:xfrm>
        </p:grpSpPr>
        <p:sp>
          <p:nvSpPr>
            <p:cNvPr id="41" name="Google Shape;41;p11"/>
            <p:cNvSpPr/>
            <p:nvPr/>
          </p:nvSpPr>
          <p:spPr>
            <a:xfrm>
              <a:off x="0" y="0"/>
              <a:ext cx="4676368" cy="2540125"/>
            </a:xfrm>
            <a:custGeom>
              <a:avLst/>
              <a:gdLst/>
              <a:ahLst/>
              <a:cxnLst/>
              <a:rect l="l" t="t" r="r" b="b"/>
              <a:pathLst>
                <a:path w="4676368" h="2540125" extrusionOk="0">
                  <a:moveTo>
                    <a:pt x="22237" y="0"/>
                  </a:moveTo>
                  <a:lnTo>
                    <a:pt x="4654130" y="0"/>
                  </a:lnTo>
                  <a:cubicBezTo>
                    <a:pt x="4660028" y="0"/>
                    <a:pt x="4665684" y="2343"/>
                    <a:pt x="4669854" y="6513"/>
                  </a:cubicBezTo>
                  <a:cubicBezTo>
                    <a:pt x="4674025" y="10684"/>
                    <a:pt x="4676368" y="16340"/>
                    <a:pt x="4676368" y="22237"/>
                  </a:cubicBezTo>
                  <a:lnTo>
                    <a:pt x="4676368" y="2517888"/>
                  </a:lnTo>
                  <a:cubicBezTo>
                    <a:pt x="4676368" y="2530169"/>
                    <a:pt x="4666412" y="2540125"/>
                    <a:pt x="4654130" y="2540125"/>
                  </a:cubicBezTo>
                  <a:lnTo>
                    <a:pt x="22237" y="2540125"/>
                  </a:lnTo>
                  <a:cubicBezTo>
                    <a:pt x="9956" y="2540125"/>
                    <a:pt x="0" y="2530169"/>
                    <a:pt x="0" y="2517888"/>
                  </a:cubicBezTo>
                  <a:lnTo>
                    <a:pt x="0" y="22237"/>
                  </a:lnTo>
                  <a:cubicBezTo>
                    <a:pt x="0" y="9956"/>
                    <a:pt x="9956" y="0"/>
                    <a:pt x="2223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 cmpd="sng">
              <a:solidFill>
                <a:srgbClr val="FDF8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11"/>
            <p:cNvSpPr txBox="1"/>
            <p:nvPr/>
          </p:nvSpPr>
          <p:spPr>
            <a:xfrm>
              <a:off x="0" y="-38100"/>
              <a:ext cx="4676368" cy="2578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3" name="Google Shape;4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529250" y="755925"/>
            <a:ext cx="12411448" cy="10769126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1"/>
          <p:cNvSpPr txBox="1"/>
          <p:nvPr/>
        </p:nvSpPr>
        <p:spPr>
          <a:xfrm>
            <a:off x="8443756" y="2673458"/>
            <a:ext cx="9436800" cy="2897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800" b="1" i="0" u="none" strike="noStrike" cap="none" dirty="0" smtClean="0">
                <a:solidFill>
                  <a:srgbClr val="FDF8BE"/>
                </a:solidFill>
                <a:latin typeface="Arvo"/>
                <a:ea typeface="Arvo"/>
                <a:cs typeface="Arvo"/>
                <a:sym typeface="Arvo"/>
              </a:rPr>
              <a:t>Сайт викторины про туризм</a:t>
            </a:r>
            <a:endParaRPr sz="1050" b="1" dirty="0"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45" name="Google Shape;45;p11"/>
          <p:cNvGrpSpPr/>
          <p:nvPr/>
        </p:nvGrpSpPr>
        <p:grpSpPr>
          <a:xfrm>
            <a:off x="11186642" y="7792872"/>
            <a:ext cx="4229644" cy="1400442"/>
            <a:chOff x="0" y="-38100"/>
            <a:chExt cx="1334130" cy="265725"/>
          </a:xfrm>
        </p:grpSpPr>
        <p:sp>
          <p:nvSpPr>
            <p:cNvPr id="46" name="Google Shape;46;p11"/>
            <p:cNvSpPr/>
            <p:nvPr/>
          </p:nvSpPr>
          <p:spPr>
            <a:xfrm>
              <a:off x="0" y="0"/>
              <a:ext cx="1334130" cy="227625"/>
            </a:xfrm>
            <a:custGeom>
              <a:avLst/>
              <a:gdLst/>
              <a:ahLst/>
              <a:cxnLst/>
              <a:rect l="l" t="t" r="r" b="b"/>
              <a:pathLst>
                <a:path w="1334130" h="227625" extrusionOk="0">
                  <a:moveTo>
                    <a:pt x="93350" y="0"/>
                  </a:moveTo>
                  <a:lnTo>
                    <a:pt x="1240779" y="0"/>
                  </a:lnTo>
                  <a:cubicBezTo>
                    <a:pt x="1265537" y="0"/>
                    <a:pt x="1289281" y="9835"/>
                    <a:pt x="1306788" y="27342"/>
                  </a:cubicBezTo>
                  <a:cubicBezTo>
                    <a:pt x="1324295" y="44848"/>
                    <a:pt x="1334130" y="68592"/>
                    <a:pt x="1334130" y="93350"/>
                  </a:cubicBezTo>
                  <a:lnTo>
                    <a:pt x="1334130" y="134274"/>
                  </a:lnTo>
                  <a:cubicBezTo>
                    <a:pt x="1334130" y="185830"/>
                    <a:pt x="1292335" y="227625"/>
                    <a:pt x="1240779" y="227625"/>
                  </a:cubicBezTo>
                  <a:lnTo>
                    <a:pt x="93350" y="227625"/>
                  </a:lnTo>
                  <a:cubicBezTo>
                    <a:pt x="41794" y="227625"/>
                    <a:pt x="0" y="185830"/>
                    <a:pt x="0" y="134274"/>
                  </a:cubicBezTo>
                  <a:lnTo>
                    <a:pt x="0" y="93350"/>
                  </a:lnTo>
                  <a:cubicBezTo>
                    <a:pt x="0" y="41794"/>
                    <a:pt x="41794" y="0"/>
                    <a:pt x="9335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11"/>
            <p:cNvSpPr txBox="1"/>
            <p:nvPr/>
          </p:nvSpPr>
          <p:spPr>
            <a:xfrm>
              <a:off x="0" y="-38100"/>
              <a:ext cx="1334130" cy="2657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8" name="Google Shape;48;p11"/>
          <p:cNvSpPr txBox="1"/>
          <p:nvPr/>
        </p:nvSpPr>
        <p:spPr>
          <a:xfrm>
            <a:off x="11600764" y="8142074"/>
            <a:ext cx="3401400" cy="755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506" b="1" i="0" u="none" strike="noStrike" cap="none" dirty="0" smtClean="0">
                <a:solidFill>
                  <a:srgbClr val="FFFFFF"/>
                </a:solidFill>
                <a:latin typeface="Arvo"/>
                <a:ea typeface="Arvo"/>
                <a:cs typeface="Arvo"/>
                <a:sym typeface="Arvo"/>
              </a:rPr>
              <a:t>Ниженко </a:t>
            </a:r>
            <a:r>
              <a:rPr lang="ru-RU" sz="3506" b="1" i="0" u="none" strike="noStrike" cap="none" dirty="0" smtClean="0">
                <a:solidFill>
                  <a:srgbClr val="FFFFFF"/>
                </a:solidFill>
                <a:latin typeface="Arvo"/>
                <a:ea typeface="Arvo"/>
                <a:cs typeface="Arvo"/>
                <a:sym typeface="Arvo"/>
              </a:rPr>
              <a:t>Юлия</a:t>
            </a:r>
            <a:endParaRPr lang="ru-RU" sz="3506" b="1" i="0" u="none" strike="noStrike" cap="none" dirty="0" smtClean="0">
              <a:solidFill>
                <a:srgbClr val="FFFFFF"/>
              </a:solidFill>
              <a:latin typeface="Arvo"/>
              <a:ea typeface="Arvo"/>
              <a:cs typeface="Arvo"/>
              <a:sym typeface="Arvo"/>
            </a:endParaRPr>
          </a:p>
        </p:txBody>
      </p:sp>
      <p:pic>
        <p:nvPicPr>
          <p:cNvPr id="49" name="Google Shape;4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69525" y="1783296"/>
            <a:ext cx="5713800" cy="6575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525572" y="7443210"/>
            <a:ext cx="5097574" cy="2353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8B7A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81825" y="3586612"/>
            <a:ext cx="2566950" cy="6398199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2"/>
          <p:cNvSpPr txBox="1"/>
          <p:nvPr/>
        </p:nvSpPr>
        <p:spPr>
          <a:xfrm>
            <a:off x="1350565" y="2277692"/>
            <a:ext cx="11947481" cy="620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39958"/>
              </a:lnSpc>
            </a:pPr>
            <a:r>
              <a:rPr lang="ru-RU" sz="3600" b="1" dirty="0" smtClean="0">
                <a:solidFill>
                  <a:srgbClr val="F8E9E4"/>
                </a:solidFill>
                <a:latin typeface="Bitter" panose="020B0604020202020204" charset="-52"/>
              </a:rPr>
              <a:t>Тема </a:t>
            </a:r>
            <a:r>
              <a:rPr lang="ru-RU" sz="3600" b="1" dirty="0">
                <a:solidFill>
                  <a:srgbClr val="F8E9E4"/>
                </a:solidFill>
                <a:latin typeface="Bitter" panose="020B0604020202020204" charset="-52"/>
              </a:rPr>
              <a:t>путешествий всегда была и остаётся интересной для людей разного возраста. Викторина — это не только способ проверить свои знания, но и возможность узнать новые интересные факты о странах, достопримечательностях и природе. Мой проект сочетает в себе образовательную и развлекательную функции.</a:t>
            </a:r>
            <a:endParaRPr sz="6600" b="1" dirty="0">
              <a:solidFill>
                <a:srgbClr val="F8E9E4"/>
              </a:solidFill>
              <a:latin typeface="Bitter" panose="020B0604020202020204" charset="-52"/>
            </a:endParaRPr>
          </a:p>
        </p:txBody>
      </p:sp>
      <p:sp>
        <p:nvSpPr>
          <p:cNvPr id="71" name="Google Shape;71;p12"/>
          <p:cNvSpPr txBox="1"/>
          <p:nvPr/>
        </p:nvSpPr>
        <p:spPr>
          <a:xfrm>
            <a:off x="5857471" y="292316"/>
            <a:ext cx="615441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0" b="1" i="0" u="none" strike="noStrike" cap="none" dirty="0" smtClean="0">
                <a:solidFill>
                  <a:srgbClr val="FDF8BE"/>
                </a:solidFill>
                <a:latin typeface="Solway"/>
                <a:ea typeface="Solway"/>
                <a:cs typeface="Solway"/>
                <a:sym typeface="Solway"/>
              </a:rPr>
              <a:t>Актуальность</a:t>
            </a:r>
            <a:endParaRPr sz="3200" dirty="0"/>
          </a:p>
        </p:txBody>
      </p:sp>
      <p:pic>
        <p:nvPicPr>
          <p:cNvPr id="76" name="Google Shape;76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33625" y="8496185"/>
            <a:ext cx="4270401" cy="1970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B8B7A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47025" y="225550"/>
            <a:ext cx="4476701" cy="16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943087" y="1138000"/>
            <a:ext cx="13030175" cy="9677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19122" y="815775"/>
            <a:ext cx="6158652" cy="895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Скругленная прямоугольная выноска 1"/>
          <p:cNvSpPr/>
          <p:nvPr/>
        </p:nvSpPr>
        <p:spPr>
          <a:xfrm>
            <a:off x="6477000" y="666750"/>
            <a:ext cx="5562600" cy="3581400"/>
          </a:xfrm>
          <a:prstGeom prst="wedgeRoundRectCallout">
            <a:avLst>
              <a:gd name="adj1" fmla="val -72545"/>
              <a:gd name="adj2" fmla="val -10904"/>
              <a:gd name="adj3" fmla="val 16667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3" name="Google Shape;83;p13"/>
          <p:cNvSpPr txBox="1"/>
          <p:nvPr/>
        </p:nvSpPr>
        <p:spPr>
          <a:xfrm>
            <a:off x="5387813" y="1228212"/>
            <a:ext cx="7522500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panose="030F0702030302020204" pitchFamily="66" charset="0"/>
                <a:ea typeface="Arvo"/>
                <a:cs typeface="Arvo"/>
                <a:sym typeface="Arvo"/>
              </a:rPr>
              <a:t>Структура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6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omic Sans MS" panose="030F0702030302020204" pitchFamily="66" charset="0"/>
                <a:ea typeface="Arvo"/>
                <a:cs typeface="Arvo"/>
                <a:sym typeface="Arvo"/>
              </a:rPr>
              <a:t>проекта</a:t>
            </a:r>
            <a:endParaRPr sz="900" dirty="0">
              <a:solidFill>
                <a:schemeClr val="tx1">
                  <a:lumMod val="65000"/>
                  <a:lumOff val="35000"/>
                </a:schemeClr>
              </a:solidFill>
              <a:latin typeface="Comic Sans MS" panose="030F0702030302020204" pitchFamily="66" charset="0"/>
              <a:ea typeface="Arvo"/>
              <a:cs typeface="Arvo"/>
              <a:sym typeface="Arvo"/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292339"/>
            <a:ext cx="65" cy="584679"/>
          </a:xfrm>
          <a:prstGeom prst="rect">
            <a:avLst/>
          </a:prstGeom>
          <a:solidFill>
            <a:srgbClr val="EBEEF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52352" rIns="0" bIns="15235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2910313" y="1518805"/>
            <a:ext cx="4968719" cy="301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ru-RU" altLang="ru-RU" sz="28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dirty="0">
                <a:solidFill>
                  <a:srgbClr val="0F1115"/>
                </a:solidFill>
                <a:latin typeface="Comic Sans MS" panose="030F0702030302020204" pitchFamily="66" charset="0"/>
              </a:rPr>
              <a:t>app.py — главный файл приложения, содержит всю логику работы сайта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dirty="0">
                <a:solidFill>
                  <a:srgbClr val="0F1115"/>
                </a:solidFill>
                <a:latin typeface="Comic Sans MS" panose="030F0702030302020204" pitchFamily="66" charset="0"/>
              </a:rPr>
              <a:t>models.py — ORM-модели для работы с базой данных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dirty="0">
                <a:solidFill>
                  <a:srgbClr val="0F1115"/>
                </a:solidFill>
                <a:latin typeface="Comic Sans MS" panose="030F0702030302020204" pitchFamily="66" charset="0"/>
              </a:rPr>
              <a:t>quiz_data.csv — файл с 25 вопросами о путешествиях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dirty="0" err="1">
                <a:solidFill>
                  <a:srgbClr val="0F1115"/>
                </a:solidFill>
                <a:latin typeface="Comic Sans MS" panose="030F0702030302020204" pitchFamily="66" charset="0"/>
              </a:rPr>
              <a:t>templates</a:t>
            </a:r>
            <a:r>
              <a:rPr lang="ru-RU" altLang="ru-RU" sz="1800" dirty="0">
                <a:solidFill>
                  <a:srgbClr val="0F1115"/>
                </a:solidFill>
                <a:latin typeface="Comic Sans MS" panose="030F0702030302020204" pitchFamily="66" charset="0"/>
              </a:rPr>
              <a:t>/ — папка с HTML-шаблонами страниц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ru-RU" altLang="ru-RU" sz="1800" dirty="0" err="1">
                <a:solidFill>
                  <a:srgbClr val="0F1115"/>
                </a:solidFill>
                <a:latin typeface="Comic Sans MS" panose="030F0702030302020204" pitchFamily="66" charset="0"/>
              </a:rPr>
              <a:t>static</a:t>
            </a:r>
            <a:r>
              <a:rPr lang="ru-RU" altLang="ru-RU" sz="1800" dirty="0">
                <a:solidFill>
                  <a:srgbClr val="0F1115"/>
                </a:solidFill>
                <a:latin typeface="Comic Sans MS" panose="030F0702030302020204" pitchFamily="66" charset="0"/>
              </a:rPr>
              <a:t>/ — папка с CSS-стилями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87088" y="5093810"/>
            <a:ext cx="5919487" cy="42534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ational Trails Day  ">
  <a:themeElements>
    <a:clrScheme name="Office">
      <a:dk1>
        <a:srgbClr val="000000"/>
      </a:dk1>
      <a:lt1>
        <a:srgbClr val="FFFFFF"/>
      </a:lt1>
      <a:dk2>
        <a:srgbClr val="FDF8BE"/>
      </a:dk2>
      <a:lt2>
        <a:srgbClr val="E4AD7E"/>
      </a:lt2>
      <a:accent1>
        <a:srgbClr val="BB8B7A"/>
      </a:accent1>
      <a:accent2>
        <a:srgbClr val="F8E9E4"/>
      </a:accent2>
      <a:accent3>
        <a:srgbClr val="888888"/>
      </a:accent3>
      <a:accent4>
        <a:srgbClr val="FFFFFF"/>
      </a:accent4>
      <a:accent5>
        <a:srgbClr val="FDF8BE"/>
      </a:accent5>
      <a:accent6>
        <a:srgbClr val="E4AD7E"/>
      </a:accent6>
      <a:hlink>
        <a:srgbClr val="BB8B7A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56</Words>
  <Application>Microsoft Office PowerPoint</Application>
  <PresentationFormat>Произвольный</PresentationFormat>
  <Paragraphs>12</Paragraphs>
  <Slides>3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10" baseType="lpstr">
      <vt:lpstr>Solway</vt:lpstr>
      <vt:lpstr>Calibri</vt:lpstr>
      <vt:lpstr>Arial</vt:lpstr>
      <vt:lpstr>Bitter</vt:lpstr>
      <vt:lpstr>Comic Sans MS</vt:lpstr>
      <vt:lpstr>Arvo</vt:lpstr>
      <vt:lpstr>National Trails Day  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Юля Ниженко</dc:creator>
  <cp:lastModifiedBy>Пользователь Windows</cp:lastModifiedBy>
  <cp:revision>23</cp:revision>
  <dcterms:modified xsi:type="dcterms:W3CDTF">2026-04-27T15:36:42Z</dcterms:modified>
</cp:coreProperties>
</file>